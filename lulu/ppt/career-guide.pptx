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342900" indent="-342900">
        <a:defRPr sz="2000">
          <a:solidFill>
            <a:srgbClr val="3B2F2A"/>
          </a:solidFill>
          <a:latin typeface="Noto Sans CJK SC"/>
          <a:ea typeface="Noto Sans CJK SC"/>
        </a:defRPr>
      </a:lvl1pPr>
      <a:lvl2pPr marL="685800" indent="-342900">
        <a:defRPr sz="1900">
          <a:solidFill>
            <a:srgbClr val="3B2F2A"/>
          </a:solidFill>
          <a:latin typeface="Noto Sans CJK SC"/>
          <a:ea typeface="Noto Sans CJK SC"/>
        </a:defRPr>
      </a:lvl2pPr>
      <a:lvl3pPr marL="1028700" indent="-342900">
        <a:defRPr sz="1800">
          <a:solidFill>
            <a:srgbClr val="3B2F2A"/>
          </a:solidFill>
          <a:latin typeface="Noto Sans CJK SC"/>
          <a:ea typeface="Noto Sans CJK SC"/>
        </a:defRPr>
      </a:lvl3pPr>
      <a:lvl4pPr marL="1371600" indent="-342900">
        <a:defRPr sz="1700">
          <a:solidFill>
            <a:srgbClr val="3B2F2A"/>
          </a:solidFill>
          <a:latin typeface="Noto Sans CJK SC"/>
          <a:ea typeface="Noto Sans CJK SC"/>
        </a:defRPr>
      </a:lvl4pPr>
      <a:lvl5pPr marL="1714500" indent="-342900">
        <a:defRPr sz="1600">
          <a:solidFill>
            <a:srgbClr val="3B2F2A"/>
          </a:solidFill>
          <a:latin typeface="Noto Sans CJK SC"/>
          <a:ea typeface="Noto Sans CJK SC"/>
        </a:defRPr>
      </a:lvl5pPr>
      <a:lvl6pPr marL="2057400" indent="-342900">
        <a:defRPr sz="1500">
          <a:solidFill>
            <a:srgbClr val="3B2F2A"/>
          </a:solidFill>
          <a:latin typeface="Noto Sans CJK SC"/>
          <a:ea typeface="Noto Sans CJK SC"/>
        </a:defRPr>
      </a:lvl6pPr>
      <a:lvl7pPr marL="2400300" indent="-342900">
        <a:defRPr sz="1400">
          <a:solidFill>
            <a:srgbClr val="3B2F2A"/>
          </a:solidFill>
          <a:latin typeface="Noto Sans CJK SC"/>
          <a:ea typeface="Noto Sans CJK SC"/>
        </a:defRPr>
      </a:lvl7pPr>
      <a:lvl8pPr marL="2743200" indent="-342900">
        <a:defRPr sz="1300">
          <a:solidFill>
            <a:srgbClr val="3B2F2A"/>
          </a:solidFill>
          <a:latin typeface="Noto Sans CJK SC"/>
          <a:ea typeface="Noto Sans CJK SC"/>
        </a:defRPr>
      </a:lvl8pPr>
      <a:lvl9pPr marL="3086100" indent="-342900">
        <a:defRPr sz="1200">
          <a:solidFill>
            <a:srgbClr val="3B2F2A"/>
          </a:solidFill>
          <a:latin typeface="Noto Sans CJK SC"/>
          <a:ea typeface="Noto Sans CJK SC"/>
        </a:defRPr>
      </a:lvl9pPr>
    </p:titleStyle>
    <p:bodyStyle>
      <a:lvl1pPr marL="342900" indent="-342900">
        <a:defRPr sz="2000">
          <a:solidFill>
            <a:srgbClr val="3B2F2A"/>
          </a:solidFill>
          <a:latin typeface="Noto Sans CJK SC"/>
          <a:ea typeface="Noto Sans CJK SC"/>
        </a:defRPr>
      </a:lvl1pPr>
      <a:lvl2pPr marL="685800" indent="-342900">
        <a:defRPr sz="1900">
          <a:solidFill>
            <a:srgbClr val="3B2F2A"/>
          </a:solidFill>
          <a:latin typeface="Noto Sans CJK SC"/>
          <a:ea typeface="Noto Sans CJK SC"/>
        </a:defRPr>
      </a:lvl2pPr>
      <a:lvl3pPr marL="1028700" indent="-342900">
        <a:defRPr sz="1800">
          <a:solidFill>
            <a:srgbClr val="3B2F2A"/>
          </a:solidFill>
          <a:latin typeface="Noto Sans CJK SC"/>
          <a:ea typeface="Noto Sans CJK SC"/>
        </a:defRPr>
      </a:lvl3pPr>
      <a:lvl4pPr marL="1371600" indent="-342900">
        <a:defRPr sz="1700">
          <a:solidFill>
            <a:srgbClr val="3B2F2A"/>
          </a:solidFill>
          <a:latin typeface="Noto Sans CJK SC"/>
          <a:ea typeface="Noto Sans CJK SC"/>
        </a:defRPr>
      </a:lvl4pPr>
      <a:lvl5pPr marL="1714500" indent="-342900">
        <a:defRPr sz="1600">
          <a:solidFill>
            <a:srgbClr val="3B2F2A"/>
          </a:solidFill>
          <a:latin typeface="Noto Sans CJK SC"/>
          <a:ea typeface="Noto Sans CJK SC"/>
        </a:defRPr>
      </a:lvl5pPr>
      <a:lvl6pPr marL="2057400" indent="-342900">
        <a:defRPr sz="1500">
          <a:solidFill>
            <a:srgbClr val="3B2F2A"/>
          </a:solidFill>
          <a:latin typeface="Noto Sans CJK SC"/>
          <a:ea typeface="Noto Sans CJK SC"/>
        </a:defRPr>
      </a:lvl6pPr>
      <a:lvl7pPr marL="2400300" indent="-342900">
        <a:defRPr sz="1400">
          <a:solidFill>
            <a:srgbClr val="3B2F2A"/>
          </a:solidFill>
          <a:latin typeface="Noto Sans CJK SC"/>
          <a:ea typeface="Noto Sans CJK SC"/>
        </a:defRPr>
      </a:lvl7pPr>
      <a:lvl8pPr marL="2743200" indent="-342900">
        <a:defRPr sz="1300">
          <a:solidFill>
            <a:srgbClr val="3B2F2A"/>
          </a:solidFill>
          <a:latin typeface="Noto Sans CJK SC"/>
          <a:ea typeface="Noto Sans CJK SC"/>
        </a:defRPr>
      </a:lvl8pPr>
      <a:lvl9pPr marL="3086100" indent="-342900">
        <a:defRPr sz="1200">
          <a:solidFill>
            <a:srgbClr val="3B2F2A"/>
          </a:solidFill>
          <a:latin typeface="Noto Sans CJK SC"/>
          <a:ea typeface="Noto Sans CJK SC"/>
        </a:defRPr>
      </a:lvl9pPr>
    </p:bodyStyle>
    <p:otherStyle>
      <a:lvl1pPr marL="342900" indent="-342900">
        <a:defRPr sz="2000">
          <a:solidFill>
            <a:srgbClr val="3B2F2A"/>
          </a:solidFill>
          <a:latin typeface="Noto Sans CJK SC"/>
          <a:ea typeface="Noto Sans CJK SC"/>
        </a:defRPr>
      </a:lvl1pPr>
      <a:lvl2pPr marL="685800" indent="-342900">
        <a:defRPr sz="1900">
          <a:solidFill>
            <a:srgbClr val="3B2F2A"/>
          </a:solidFill>
          <a:latin typeface="Noto Sans CJK SC"/>
          <a:ea typeface="Noto Sans CJK SC"/>
        </a:defRPr>
      </a:lvl2pPr>
      <a:lvl3pPr marL="1028700" indent="-342900">
        <a:defRPr sz="1800">
          <a:solidFill>
            <a:srgbClr val="3B2F2A"/>
          </a:solidFill>
          <a:latin typeface="Noto Sans CJK SC"/>
          <a:ea typeface="Noto Sans CJK SC"/>
        </a:defRPr>
      </a:lvl3pPr>
      <a:lvl4pPr marL="1371600" indent="-342900">
        <a:defRPr sz="1700">
          <a:solidFill>
            <a:srgbClr val="3B2F2A"/>
          </a:solidFill>
          <a:latin typeface="Noto Sans CJK SC"/>
          <a:ea typeface="Noto Sans CJK SC"/>
        </a:defRPr>
      </a:lvl4pPr>
      <a:lvl5pPr marL="1714500" indent="-342900">
        <a:defRPr sz="1600">
          <a:solidFill>
            <a:srgbClr val="3B2F2A"/>
          </a:solidFill>
          <a:latin typeface="Noto Sans CJK SC"/>
          <a:ea typeface="Noto Sans CJK SC"/>
        </a:defRPr>
      </a:lvl5pPr>
      <a:lvl6pPr marL="2057400" indent="-342900">
        <a:defRPr sz="1500">
          <a:solidFill>
            <a:srgbClr val="3B2F2A"/>
          </a:solidFill>
          <a:latin typeface="Noto Sans CJK SC"/>
          <a:ea typeface="Noto Sans CJK SC"/>
        </a:defRPr>
      </a:lvl6pPr>
      <a:lvl7pPr marL="2400300" indent="-342900">
        <a:defRPr sz="1400">
          <a:solidFill>
            <a:srgbClr val="3B2F2A"/>
          </a:solidFill>
          <a:latin typeface="Noto Sans CJK SC"/>
          <a:ea typeface="Noto Sans CJK SC"/>
        </a:defRPr>
      </a:lvl7pPr>
      <a:lvl8pPr marL="2743200" indent="-342900">
        <a:defRPr sz="1300">
          <a:solidFill>
            <a:srgbClr val="3B2F2A"/>
          </a:solidFill>
          <a:latin typeface="Noto Sans CJK SC"/>
          <a:ea typeface="Noto Sans CJK SC"/>
        </a:defRPr>
      </a:lvl8pPr>
      <a:lvl9pPr marL="3086100" indent="-342900">
        <a:defRPr sz="1200">
          <a:solidFill>
            <a:srgbClr val="3B2F2A"/>
          </a:solidFill>
          <a:latin typeface="Noto Sans CJK SC"/>
          <a:ea typeface="Noto Sans CJK SC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ccent bar"/>
          <p:cNvSpPr/>
          <p:nvPr/>
        </p:nvSpPr>
        <p:spPr>
          <a:xfrm>
            <a:off x="914400" y="2250000"/>
            <a:ext cx="240000" cy="1600000"/>
          </a:xfrm>
          <a:prstGeom prst="rect">
            <a:avLst/>
          </a:prstGeom>
          <a:solidFill>
            <a:srgbClr val="E58A2F"/>
          </a:solidFill>
          <a:ln/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1550000" y="2160000"/>
            <a:ext cx="9250000" cy="1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4400" b="1" dirty="0">
                <a:solidFill>
                  <a:srgbClr val="3B2F2A"/>
                </a:solidFill>
                <a:latin typeface="Noto Sans CJK SC"/>
                <a:ea typeface="Noto Sans CJK SC"/>
              </a:rPr>
              <a:t>女生转行七大岗位全攻略</a:t>
            </a:r>
          </a:p>
        </p:txBody>
      </p:sp>
      <p:sp>
        <p:nvSpPr>
          <p:cNvPr id="13" name="Subtitle"/>
          <p:cNvSpPr txBox="1"/>
          <p:nvPr/>
        </p:nvSpPr>
        <p:spPr>
          <a:xfrm>
            <a:off x="1570000" y="4150000"/>
            <a:ext cx="9000000" cy="12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2200" b="0" dirty="0">
                <a:solidFill>
                  <a:srgbClr val="7E6F68"/>
                </a:solidFill>
                <a:latin typeface="Noto Sans CJK SC"/>
                <a:ea typeface="Noto Sans CJK SC"/>
              </a:rPr>
              <a:t>本科 · 一线城市 · gap半年 · 定制行动指南</a:t>
            </a:r>
          </a:p>
        </p:txBody>
      </p:sp>
      <p:sp>
        <p:nvSpPr>
          <p:cNvPr id="14" name="Kicker"/>
          <p:cNvSpPr txBox="1"/>
          <p:nvPr/>
        </p:nvSpPr>
        <p:spPr>
          <a:xfrm>
            <a:off x="1570000" y="5800000"/>
            <a:ext cx="7000000" cy="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开场</a:t>
            </a:r>
          </a:p>
        </p:txBody>
      </p:sp>
      <p:sp>
        <p:nvSpPr>
          <p:cNvPr id="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01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你的牌面：gap半年不是绝症</a:t>
            </a:r>
          </a:p>
        </p:txBody>
      </p:sp>
      <p:sp>
        <p:nvSpPr>
          <p:cNvPr id="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你的牌面：gap半年不是绝症</a:t>
            </a:r>
          </a:p>
        </p:txBody>
      </p:sp>
      <p:sp>
        <p:nvSpPr>
          <p:cNvPr id="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本科学历：七个岗位全部够格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一线城市：岗位最多、薪资最高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1-3年经验：软技能是可迁移资产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gap半年：市场常见，叙事可重建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核心任务：3个月内先落地再优化</a:t>
            </a:r>
          </a:p>
        </p:txBody>
      </p:sp>
      <p:sp>
        <p:nvSpPr>
          <p:cNvPr id="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02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打牌策略：一主一快一稳</a:t>
            </a:r>
          </a:p>
        </p:txBody>
      </p:sp>
      <p:sp>
        <p:nvSpPr>
          <p:cNvPr id="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打牌策略：一主一快一稳</a:t>
            </a:r>
          </a:p>
        </p:txBody>
      </p:sp>
      <p:sp>
        <p:nvSpPr>
          <p:cNvPr id="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主攻牌：值得花2-3个月系统学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候选：数据运营 或 新媒体运营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快速牌：2-4周拿offer止住空窗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候选：社群运营 或 行政专员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稳定牌：高校助理，投了不亏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三线并行：先上岸，再谈理想</a:t>
            </a:r>
          </a:p>
        </p:txBody>
      </p:sp>
      <p:sp>
        <p:nvSpPr>
          <p:cNvPr id="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03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七岗总览：先看数字再谈感觉</a:t>
            </a:r>
          </a:p>
        </p:txBody>
      </p:sp>
      <p:graphicFrame>
        <p:nvGraphicFramePr>
          <p:cNvPr id="43" name="Table"/>
          <p:cNvGraphicFramePr>
            <a:graphicFrameLocks noGrp="1"/>
          </p:cNvGraphicFramePr>
          <p:nvPr/>
        </p:nvGraphicFramePr>
        <p:xfrm>
          <a:off x="900000" y="1950000"/>
          <a:ext cx="10300000" cy="3360000"/>
        </p:xfrm>
        <a:graphic>
          <a:graphicData uri="http://schemas.openxmlformats.org/drawingml/2006/table">
            <a:tbl>
              <a:tblPr firstRow="1" bandRow="1"/>
              <a:tblGrid>
                <a:gridCol w="2060000"/>
                <a:gridCol w="2060000"/>
                <a:gridCol w="2060000"/>
                <a:gridCol w="2060000"/>
                <a:gridCol w="2060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岗位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上手周期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一线起薪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3年后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天花板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新媒体运营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1-2月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5-7k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12-18k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高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电商运营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1-2月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6-8k+提成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12-20k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高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社群运营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3-4周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5-7k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9-12k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中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软件测试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2-3月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7-10k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13-18k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中高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数据运营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2.5-3月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7-12k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15-20k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高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高校助理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0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6-9k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8-10k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低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行政专员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0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5.5-8k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9-13k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低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</a:tr>
            </a:tbl>
          </a:graphicData>
        </a:graphic>
      </p:graphicFrame>
      <p:sp>
        <p:nvSpPr>
          <p:cNvPr id="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04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新媒体运营：用内容换流量</a:t>
            </a:r>
          </a:p>
        </p:txBody>
      </p:sp>
      <p:sp>
        <p:nvSpPr>
          <p:cNvPr id="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新媒体运营：用内容换流量</a:t>
            </a:r>
          </a:p>
        </p:txBody>
      </p:sp>
      <p:sp>
        <p:nvSpPr>
          <p:cNvPr id="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定位：经营品牌的内容资产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主战场：小红书、抖音、视频号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每天：看数据、追热点、写文案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每周：排期表、数据复盘、活动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KPI：阅读、涨粉、互动、转化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晋升：专员到主管再到品牌负责人</a:t>
            </a:r>
          </a:p>
        </p:txBody>
      </p:sp>
      <p:sp>
        <p:nvSpPr>
          <p:cNvPr id="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05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新媒体运营：账号就是简历</a:t>
            </a:r>
          </a:p>
        </p:txBody>
      </p:sp>
      <p:sp>
        <p:nvSpPr>
          <p:cNvPr id="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新媒体运营：账号就是简历</a:t>
            </a:r>
          </a:p>
        </p:txBody>
      </p:sp>
      <p:sp>
        <p:nvSpPr>
          <p:cNvPr id="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学：B站系统课+平台官方教程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练：自营账号跑30天真实数据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简历只写可量化的结果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例：打开率3个月从2%到5%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例：500万播放，涨粉10万+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一页纸排版，附作品链接</a:t>
            </a:r>
          </a:p>
        </p:txBody>
      </p:sp>
      <p:sp>
        <p:nvSpPr>
          <p:cNvPr id="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06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电商运营：离钱最近的岗位</a:t>
            </a:r>
          </a:p>
        </p:txBody>
      </p:sp>
      <p:sp>
        <p:nvSpPr>
          <p:cNvPr id="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电商运营：离钱最近的岗位</a:t>
            </a:r>
          </a:p>
        </p:txBody>
      </p:sp>
      <p:sp>
        <p:nvSpPr>
          <p:cNvPr id="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定位：让店铺多卖货的人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公式：流量乘转化率乘客单价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每天：看后台、上新品、调投放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大促：618双11要盯盘加班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工具：生意参谋、千川、直通车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提成制：做得好收入超底薪</a:t>
            </a:r>
          </a:p>
        </p:txBody>
      </p:sp>
      <p:sp>
        <p:nvSpPr>
          <p:cNvPr id="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07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电商运营：结果导向最好进</a:t>
            </a:r>
          </a:p>
        </p:txBody>
      </p:sp>
      <p:sp>
        <p:nvSpPr>
          <p:cNvPr id="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电商运营：结果导向最好进</a:t>
            </a:r>
          </a:p>
        </p:txBody>
      </p:sp>
      <p:sp>
        <p:nvSpPr>
          <p:cNvPr id="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学：B站电商课+商家后台学院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练：帮小店上架优化10个商品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简历关键词：GMV、ROI、转化率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例：月销10万提到50万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例：广告ROI优化至1.8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单双休普遍，谈offer要问清</a:t>
            </a:r>
          </a:p>
        </p:txBody>
      </p:sp>
      <p:sp>
        <p:nvSpPr>
          <p:cNvPr id="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08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社群运营：最快的入行跳板</a:t>
            </a:r>
          </a:p>
        </p:txBody>
      </p:sp>
      <p:sp>
        <p:nvSpPr>
          <p:cNvPr id="9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社群运营：最快的入行跳板</a:t>
            </a:r>
          </a:p>
        </p:txBody>
      </p:sp>
      <p:sp>
        <p:nvSpPr>
          <p:cNvPr id="9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定位：维护用户关系促复购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每天：群内答疑、发内容、办活动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核心：持续输出价值不是打杂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技能：话术SOP、用户分层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晋升：私域增长负责人缺人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策略：干1年转新媒体或电商</a:t>
            </a:r>
          </a:p>
        </p:txBody>
      </p:sp>
      <p:sp>
        <p:nvSpPr>
          <p:cNvPr id="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09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社群运营：三周就能上岗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社群运营：三周就能上岗</a:t>
            </a:r>
          </a:p>
        </p:txBody>
      </p:sp>
      <p:sp>
        <p:nvSpPr>
          <p:cNvPr id="10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学：B站入门课+拆解3个好社群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练：自建30人兴趣群实操一周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简历写：活跃、转化、裂变数据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例：社群活跃度提升35%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例：裂变活动新增用户500+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面试就讲你建群的真实打法</a:t>
            </a:r>
          </a:p>
        </p:txBody>
      </p:sp>
      <p:sp>
        <p:nvSpPr>
          <p:cNvPr id="1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10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软件测试：AI时代的守门员</a:t>
            </a:r>
          </a:p>
        </p:txBody>
      </p:sp>
      <p:sp>
        <p:nvSpPr>
          <p:cNvPr id="1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软件测试：AI时代的守门员</a:t>
            </a:r>
          </a:p>
        </p:txBody>
      </p:sp>
      <p:sp>
        <p:nvSpPr>
          <p:cNvPr id="1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定位：上线前最后的质量关卡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每天：写用例、执行测试、提bug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工具：禅道、JIRA、Postman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2025真相：纯手工岗竞争激烈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门槛上移：SQL加接口成标配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亮点方向：AI产品测试缺人</a:t>
            </a:r>
          </a:p>
        </p:txBody>
      </p:sp>
      <p:sp>
        <p:nvSpPr>
          <p:cNvPr id="1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11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软件测试：三个月学习路线</a:t>
            </a:r>
          </a:p>
        </p:txBody>
      </p:sp>
      <p:sp>
        <p:nvSpPr>
          <p:cNvPr id="1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软件测试：三个月学习路线</a:t>
            </a:r>
          </a:p>
        </p:txBody>
      </p:sp>
      <p:sp>
        <p:nvSpPr>
          <p:cNvPr id="1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第1月：测试理论+用例编写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第2月：SQL基础+Postman接口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第3月：Linux+Python自动化入门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作品：常用App测试用例10份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薪资：初级7-10k，外包6-8k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警告：没学完别裸投手工岗</a:t>
            </a:r>
          </a:p>
        </p:txBody>
      </p:sp>
      <p:sp>
        <p:nvSpPr>
          <p:cNvPr id="1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12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数据运营：最抗AI的运营岗</a:t>
            </a:r>
          </a:p>
        </p:txBody>
      </p:sp>
      <p:sp>
        <p:nvSpPr>
          <p:cNvPr id="1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数据运营：最抗AI的运营岗</a:t>
            </a:r>
          </a:p>
        </p:txBody>
      </p:sp>
      <p:sp>
        <p:nvSpPr>
          <p:cNvPr id="1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定位：用数据驱动业务决策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每天：SQL取数、做报表、找原因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技能：SQL必备、Excel透视表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加分：Python、BI、指标体系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趋势：业务+数据复合岗最抢手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涨薪：运营序列里最快的一个</a:t>
            </a:r>
          </a:p>
        </p:txBody>
      </p:sp>
      <p:sp>
        <p:nvSpPr>
          <p:cNvPr id="1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13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数据运营：三个月刷题路线</a:t>
            </a:r>
          </a:p>
        </p:txBody>
      </p:sp>
      <p:sp>
        <p:nvSpPr>
          <p:cNvPr id="1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数据运营：三个月刷题路线</a:t>
            </a:r>
          </a:p>
        </p:txBody>
      </p:sp>
      <p:sp>
        <p:nvSpPr>
          <p:cNvPr id="1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第1月：Excel透视表+SQL入门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第2月：牛客SQL题库刷50题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第3月：公开数据做3个分析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作品：问题、数据、结论三段式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薪资：起步7-12k，3年20k+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投递：数据运营和商业分析都投</a:t>
            </a:r>
          </a:p>
        </p:txBody>
      </p:sp>
      <p:sp>
        <p:nvSpPr>
          <p:cNvPr id="1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14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高校助理：有寒暑假的稳定牌</a:t>
            </a:r>
          </a:p>
        </p:txBody>
      </p:sp>
      <p:sp>
        <p:nvSpPr>
          <p:cNvPr id="1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高校助理：有寒暑假的稳定牌</a:t>
            </a:r>
          </a:p>
        </p:txBody>
      </p:sp>
      <p:sp>
        <p:nvSpPr>
          <p:cNvPr id="1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岗位：行政、教务、学生工作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学历：本科可投行政教辅岗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注意：辅导员岗多要硕士党员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性质：合同制为主，转编难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福利：公积金高、餐补、寒暑假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渠道：高校人才网+学校官网</a:t>
            </a:r>
          </a:p>
        </p:txBody>
      </p:sp>
      <p:sp>
        <p:nvSpPr>
          <p:cNvPr id="1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15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高校助理：怎么投不踩坑</a:t>
            </a:r>
          </a:p>
        </p:txBody>
      </p:sp>
      <p:sp>
        <p:nvSpPr>
          <p:cNvPr id="1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高校助理：怎么投不踩坑</a:t>
            </a:r>
          </a:p>
        </p:txBody>
      </p:sp>
      <p:sp>
        <p:nvSpPr>
          <p:cNvPr id="1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区分：事业编考试与合同制直投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简历：突出组织协调和公文能力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例：处理文件300份零差错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例：活动满意度调查95%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面试：稳定性和服务意识是核心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当备胎投：撞上就是赚到</a:t>
            </a:r>
          </a:p>
        </p:txBody>
      </p:sp>
      <p:sp>
        <p:nvSpPr>
          <p:cNvPr id="1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16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行政专员：保底上岸牌</a:t>
            </a:r>
          </a:p>
        </p:txBody>
      </p:sp>
      <p:sp>
        <p:nvSpPr>
          <p:cNvPr id="1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行政专员：保底上岸牌</a:t>
            </a:r>
          </a:p>
        </p:txBody>
      </p:sp>
      <p:sp>
        <p:nvSpPr>
          <p:cNvPr id="1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定位：让办公室正常运转的人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每天：会议、采购、报销、活动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门槛最低：两周熟悉即可上手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简历量化：省钱、零风险、提效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例：电子台账检索提速90%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路径：一年后内部转HR或运营</a:t>
            </a:r>
          </a:p>
        </p:txBody>
      </p:sp>
      <p:sp>
        <p:nvSpPr>
          <p:cNvPr id="1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17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简历通用公式：STAR加量化</a:t>
            </a:r>
          </a:p>
        </p:txBody>
      </p:sp>
      <p:sp>
        <p:nvSpPr>
          <p:cNvPr id="1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简历通用公式：STAR加量化</a:t>
            </a:r>
          </a:p>
        </p:txBody>
      </p:sp>
      <p:sp>
        <p:nvSpPr>
          <p:cNvPr id="1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S情境：什么背景下什么问题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T任务：你负责的具体目标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A行动：用了什么方法和工具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R结果：数字说话拒绝形容词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反例：负责公众号日常运营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正例：3个月打开率2%提到5%</a:t>
            </a:r>
          </a:p>
        </p:txBody>
      </p:sp>
      <p:sp>
        <p:nvSpPr>
          <p:cNvPr id="1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18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Gap半年话术：30秒带过</a:t>
            </a:r>
          </a:p>
        </p:txBody>
      </p:sp>
      <p:sp>
        <p:nvSpPr>
          <p:cNvPr id="19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Gap半年话术：30秒带过</a:t>
            </a:r>
          </a:p>
        </p:txBody>
      </p:sp>
      <p:sp>
        <p:nvSpPr>
          <p:cNvPr id="19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考证版：系统学习已产出成果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家庭版：事务办妥可随时到岗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休整版：状态恢复并补了技能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原则：不撒谎、不道歉、不恋战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落点：马上引到岗位匹配度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证据：gap期做的每件事都算数</a:t>
            </a:r>
          </a:p>
        </p:txBody>
      </p:sp>
      <p:sp>
        <p:nvSpPr>
          <p:cNvPr id="1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19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过来人共识：一年内gap市场能接受</a:t>
            </a:r>
          </a:p>
        </p:txBody>
      </p:sp>
      <p:sp>
        <p:nvSpPr>
          <p:cNvPr id="20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过来人共识：一年内gap市场能接受</a:t>
            </a:r>
          </a:p>
        </p:txBody>
      </p:sp>
      <p:sp>
        <p:nvSpPr>
          <p:cNvPr id="20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求职市场认可一年左右的gap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招聘总监：离职状态到岗更快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HR担心的是稳定性不是空窗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易接受的回答：学习调整突破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你的gap半年在安全区内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来源：牛客网+知乎过来人帖</a:t>
            </a:r>
          </a:p>
        </p:txBody>
      </p:sp>
      <p:sp>
        <p:nvSpPr>
          <p:cNvPr id="2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20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面试三坑：过度解释最败好感</a:t>
            </a:r>
          </a:p>
        </p:txBody>
      </p:sp>
      <p:sp>
        <p:nvSpPr>
          <p:cNvPr id="2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面试三坑：过度解释最败好感</a:t>
            </a:r>
          </a:p>
        </p:txBody>
      </p:sp>
      <p:sp>
        <p:nvSpPr>
          <p:cNvPr id="2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坑一：过度解释越说越像心虚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坑二：贬低前司显得难相处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坑三：消极表达等于自曝状态差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正确第一句：原因一句带过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第二句：讲空窗期学了做了什么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第三句：拉回当下状态好能到岗</a:t>
            </a:r>
          </a:p>
        </p:txBody>
      </p:sp>
      <p:sp>
        <p:nvSpPr>
          <p:cNvPr id="2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21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真实时间线：熬过崩溃期就上岸</a:t>
            </a:r>
          </a:p>
        </p:txBody>
      </p:sp>
      <p:sp>
        <p:nvSpPr>
          <p:cNvPr id="2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真实时间线：熬过崩溃期就上岸</a:t>
            </a:r>
          </a:p>
        </p:txBody>
      </p:sp>
      <p:sp>
        <p:nvSpPr>
          <p:cNvPr id="2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真实案例：gap一年五个月上岸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节奏：心理建设到offer五个月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每天专注3-4小时投20+岗位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转折：offer来自朋友内推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心态：第三个月最容易崩溃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解药：看到更长gap的成功者</a:t>
            </a:r>
          </a:p>
        </p:txBody>
      </p:sp>
      <p:sp>
        <p:nvSpPr>
          <p:cNvPr id="2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22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12周行动计划</a:t>
            </a:r>
          </a:p>
        </p:txBody>
      </p:sp>
      <p:sp>
        <p:nvSpPr>
          <p:cNvPr id="2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12周行动计划</a:t>
            </a:r>
          </a:p>
        </p:txBody>
      </p:sp>
      <p:sp>
        <p:nvSpPr>
          <p:cNvPr id="2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第1周：定方向+看100条JD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第2到6周：每天学3-4小时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第5周起：改简历+小量试投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第6到12周：每周投10-20个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每场面试后：写三行复盘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心法：先拿2-3个offer再挑</a:t>
            </a:r>
          </a:p>
        </p:txBody>
      </p:sp>
      <p:sp>
        <p:nvSpPr>
          <p:cNvPr id="2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23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避坑清单</a:t>
            </a:r>
          </a:p>
        </p:txBody>
      </p:sp>
      <p:sp>
        <p:nvSpPr>
          <p:cNvPr id="2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避坑清单</a:t>
            </a:r>
          </a:p>
        </p:txBody>
      </p:sp>
      <p:sp>
        <p:nvSpPr>
          <p:cNvPr id="2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培训贷：包就业等于贷2-3万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入职先交钱的岗位都是违法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刷单、点赞员兼职全是诈骗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便宜求职课发网盘链接是套路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无经验月入两万要高度警惕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试用期不缴社保可依法维权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境外高薪邀约绝对不出境</a:t>
            </a:r>
          </a:p>
        </p:txBody>
      </p:sp>
      <p:sp>
        <p:nvSpPr>
          <p:cNvPr id="2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24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今天就开始的三件事</a:t>
            </a:r>
          </a:p>
        </p:txBody>
      </p:sp>
      <p:sp>
        <p:nvSpPr>
          <p:cNvPr id="2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今天就开始的三件事</a:t>
            </a:r>
          </a:p>
        </p:txBody>
      </p:sp>
      <p:sp>
        <p:nvSpPr>
          <p:cNvPr id="2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今晚：下载BOSS直聘看100条JD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周末：选出1个主攻+1个备胎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下周一：开始每天3小时学习</a:t>
            </a:r>
          </a:p>
          <a:p>
            <a:pPr marL="285750" indent="-285750">
              <a:spcAft>
                <a:spcPts val="600"/>
              </a:spcAft>
              <a:buFont typeface="Noto Sans CJK SC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记住：行动是迷茫唯一的解药</a:t>
            </a:r>
          </a:p>
        </p:txBody>
      </p:sp>
      <p:sp>
        <p:nvSpPr>
          <p:cNvPr id="2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25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itle"/>
          <p:cNvSpPr txBox="1"/>
          <p:nvPr/>
        </p:nvSpPr>
        <p:spPr>
          <a:xfrm>
            <a:off x="1050000" y="2300000"/>
            <a:ext cx="10200000" cy="17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zh-CN" sz="5200" b="1" dirty="0">
                <a:solidFill>
                  <a:srgbClr val="3B2F2A"/>
                </a:solidFill>
                <a:latin typeface="Noto Sans CJK SC"/>
                <a:ea typeface="Noto Sans CJK SC"/>
              </a:rPr>
              <a:t>谢谢</a:t>
            </a:r>
          </a:p>
        </p:txBody>
      </p:sp>
      <p:sp>
        <p:nvSpPr>
          <p:cNvPr id="262" name="Subtitle"/>
          <p:cNvSpPr txBox="1"/>
          <p:nvPr/>
        </p:nvSpPr>
        <p:spPr>
          <a:xfrm>
            <a:off x="1050000" y="4200000"/>
            <a:ext cx="10200000" cy="9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zh-CN" sz="2000" b="1" dirty="0">
                <a:solidFill>
                  <a:srgbClr val="E58A2F"/>
                </a:solidFill>
                <a:latin typeface="Noto Sans CJK SC"/>
                <a:ea typeface="Noto Sans CJK SC"/>
              </a:rPr>
              <a:t>女生转行七大岗位全攻略</a:t>
            </a:r>
          </a:p>
        </p:txBody>
      </p:sp>
      <p:sp>
        <p:nvSpPr>
          <p:cNvPr id="2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26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theme/theme1.xml><?xml version="1.0" encoding="utf-8"?>
<a:theme xmlns:a="http://schemas.openxmlformats.org/drawingml/2006/main" name="dsh-ppt Soft Signal">
  <a:themeElements>
    <a:clrScheme name="dsh-ppt">
      <a:dk1>
        <a:srgbClr val="3B2F2A"/>
      </a:dk1>
      <a:lt1>
        <a:srgbClr val="FFF8EC"/>
      </a:lt1>
      <a:dk2>
        <a:srgbClr val="7E6F68"/>
      </a:dk2>
      <a:lt2>
        <a:srgbClr val="FFF2DE"/>
      </a:lt2>
      <a:accent1>
        <a:srgbClr val="E58A2F"/>
      </a:accent1>
      <a:accent2>
        <a:srgbClr val="8FAF8C"/>
      </a:accent2>
      <a:accent3>
        <a:srgbClr val="3B2F2A"/>
      </a:accent3>
      <a:accent4>
        <a:srgbClr val="7E6F68"/>
      </a:accent4>
      <a:accent5>
        <a:srgbClr val="E58A2F"/>
      </a:accent5>
      <a:accent6>
        <a:srgbClr val="8FAF8C"/>
      </a:accent6>
      <a:hlink>
        <a:srgbClr val="E58A2F"/>
      </a:hlink>
      <a:folHlink>
        <a:srgbClr val="8FAF8C"/>
      </a:folHlink>
    </a:clrScheme>
    <a:fontScheme name="dsh-ppt">
      <a:majorFont>
        <a:latin typeface="Noto Sans CJK SC"/>
        <a:ea typeface="Noto Sans CJK SC"/>
        <a:cs typeface=""/>
      </a:majorFont>
      <a:minorFont>
        <a:latin typeface="Noto Sans CJK SC"/>
        <a:ea typeface="Noto Sans CJK SC"/>
        <a:cs typeface=""/>
      </a:minorFont>
    </a:fontScheme>
    <a:fmtScheme name="dsh-pp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dsh-ppt</Application>
  <PresentationFormat>Widescreen</PresentationFormat>
  <Slides>26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女生转行七大岗位全攻略</dc:title>
  <dc:creator>dsh-ppt</dc:creator>
  <cp:lastModifiedBy>dsh-ppt</cp:lastModifiedBy>
</cp:coreProperties>
</file>